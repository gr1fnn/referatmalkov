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6" r:id="rId6"/>
    <p:sldId id="267" r:id="rId7"/>
    <p:sldId id="268" r:id="rId8"/>
    <p:sldId id="261" r:id="rId9"/>
    <p:sldId id="269" r:id="rId10"/>
    <p:sldId id="262" r:id="rId11"/>
    <p:sldId id="263" r:id="rId12"/>
    <p:sldId id="270" r:id="rId13"/>
    <p:sldId id="271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069A4-CB1F-4171-8BFA-91DF1381155B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7E2E4-2296-4E5C-94D7-E3BBE74C06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47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979F6-D24E-47C2-A27A-E4EF5F938B5D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9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6BD20-12E1-452E-BD5F-0A0D752D139A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69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18E1-4B20-46F0-92E3-679BB36C6235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36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68B8-2C20-4CB0-9EC9-41EB711C303F}" type="datetime1">
              <a:rPr lang="ru-RU" smtClean="0"/>
              <a:t>31.03.2026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78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CF67-1E21-48C6-8513-84CD8C6BB31A}" type="datetime1">
              <a:rPr lang="ru-RU" smtClean="0"/>
              <a:t>31.03.2026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50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A2EEC-B1C3-4208-B263-39B570A113CA}" type="datetime1">
              <a:rPr lang="ru-RU" smtClean="0"/>
              <a:t>31.03.2026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34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3C35-94BF-4A5E-9485-3EAD2583A63F}" type="datetime1">
              <a:rPr lang="ru-RU" smtClean="0"/>
              <a:t>31.03.2026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88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FFE024-7BB8-43AF-BB4F-7336D6936167}" type="datetime1">
              <a:rPr lang="ru-RU" smtClean="0"/>
              <a:t>31.03.2026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94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AC94A-3C4C-4AA2-B858-501161EC3B80}" type="datetime1">
              <a:rPr lang="ru-RU" smtClean="0"/>
              <a:t>31.03.2026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12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B616-F629-4014-86A1-BA1CB29A7BB9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80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C3FD-F2AE-4461-B23D-77B050CF3ABF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4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D7F385B-51D8-4C55-8700-712BF29E8802}" type="datetime1">
              <a:rPr lang="ru-RU" smtClean="0"/>
              <a:t>31.03.2026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726283-AA38-4E85-AA5F-A5EF301525D1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9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0373-8EDB-4139-987B-249EB5912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0928" y="965200"/>
            <a:ext cx="5999002" cy="4927600"/>
          </a:xfrm>
        </p:spPr>
        <p:txBody>
          <a:bodyPr anchor="ctr">
            <a:normAutofit/>
          </a:bodyPr>
          <a:lstStyle/>
          <a:p>
            <a:pPr algn="ctr"/>
            <a:r>
              <a:rPr lang="ru-RU" sz="2000" dirty="0">
                <a:solidFill>
                  <a:schemeClr val="tx2"/>
                </a:solidFill>
              </a:rPr>
              <a:t>МИНОРБНАУКИ РОССИИ ФГБОУ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ВО «</a:t>
            </a:r>
            <a:r>
              <a:rPr lang="ru-RU" sz="2000" dirty="0" err="1">
                <a:solidFill>
                  <a:schemeClr val="tx2"/>
                </a:solidFill>
              </a:rPr>
              <a:t>ТвГТУ</a:t>
            </a:r>
            <a:r>
              <a:rPr lang="ru-RU" sz="2000" dirty="0">
                <a:solidFill>
                  <a:schemeClr val="tx2"/>
                </a:solidFill>
              </a:rPr>
              <a:t>»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 Факультет информационных технологий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 Кафедра программного обеспечения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 Направление подготовки бакалавров 09.03.04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 Программная инженерия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 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 Презентация на тему: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Преобразование категориальных признаков с сохранением семантической информации</a:t>
            </a:r>
            <a:br>
              <a:rPr lang="ru-RU" sz="2000" dirty="0">
                <a:solidFill>
                  <a:schemeClr val="tx2"/>
                </a:solidFill>
              </a:rPr>
            </a:b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Выполнил студент 4 курса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группы Б.ПИН.РИС.2206 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Аванесян Григорий </a:t>
            </a:r>
            <a:r>
              <a:rPr lang="ru-RU" sz="2000" dirty="0" err="1">
                <a:solidFill>
                  <a:schemeClr val="tx2"/>
                </a:solidFill>
              </a:rPr>
              <a:t>Ромаевич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Проверил:</a:t>
            </a:r>
            <a:br>
              <a:rPr lang="ru-RU" sz="2000" dirty="0">
                <a:solidFill>
                  <a:schemeClr val="tx2"/>
                </a:solidFill>
              </a:rPr>
            </a:br>
            <a:r>
              <a:rPr lang="ru-RU" sz="2000" dirty="0">
                <a:solidFill>
                  <a:schemeClr val="tx2"/>
                </a:solidFill>
              </a:rPr>
              <a:t>Мальков А. А.</a:t>
            </a:r>
            <a:br>
              <a:rPr lang="ru-RU" sz="2000" dirty="0">
                <a:solidFill>
                  <a:schemeClr val="tx2"/>
                </a:solidFill>
              </a:rPr>
            </a:br>
            <a:endParaRPr lang="ru-RU" sz="2000" dirty="0">
              <a:solidFill>
                <a:schemeClr val="tx2"/>
              </a:solidFill>
            </a:endParaRP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CD73B2-B018-1B53-39AC-F73C94F5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15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52277-5DE6-44A2-ADB8-C7CB9675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2336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33FE1-F73A-4C21-955B-D3E3859CC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956816"/>
            <a:ext cx="5422392" cy="377647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b="1" dirty="0"/>
              <a:t>Цель работы</a:t>
            </a:r>
            <a:endParaRPr lang="ru-RU" dirty="0"/>
          </a:p>
          <a:p>
            <a:pPr algn="just"/>
            <a:r>
              <a:rPr lang="ru-RU" dirty="0"/>
              <a:t>Разработка программного средства для сравнительного анализа методов преобразования категориальных признаков с сохранением семантической информации, позволяющего оценить эффективность различных подходов кодирования при работе с </a:t>
            </a:r>
            <a:r>
              <a:rPr lang="ru-RU" dirty="0" err="1"/>
              <a:t>высокоразмерными</a:t>
            </a:r>
            <a:r>
              <a:rPr lang="ru-RU" dirty="0"/>
              <a:t> данными.</a:t>
            </a:r>
          </a:p>
          <a:p>
            <a:pPr algn="just"/>
            <a:r>
              <a:rPr lang="ru-RU" b="1" dirty="0"/>
              <a:t>Задачи </a:t>
            </a:r>
            <a:endParaRPr lang="ru-RU" dirty="0"/>
          </a:p>
          <a:p>
            <a:pPr algn="just"/>
            <a:r>
              <a:rPr lang="ru-RU" dirty="0"/>
              <a:t>Анализ существующих методов кодирования категориальных признаков</a:t>
            </a:r>
          </a:p>
          <a:p>
            <a:pPr algn="just"/>
            <a:r>
              <a:rPr lang="ru-RU" dirty="0"/>
              <a:t>Разработка программной архитектуры</a:t>
            </a:r>
          </a:p>
          <a:p>
            <a:pPr algn="just"/>
            <a:r>
              <a:rPr lang="ru-RU" dirty="0"/>
              <a:t>Реализация методов кодирования</a:t>
            </a:r>
          </a:p>
          <a:p>
            <a:pPr algn="just"/>
            <a:r>
              <a:rPr lang="ru-RU" dirty="0"/>
              <a:t>Создание пользовательского интерфейса</a:t>
            </a:r>
          </a:p>
          <a:p>
            <a:pPr algn="just"/>
            <a:r>
              <a:rPr lang="ru-RU" dirty="0"/>
              <a:t>Сравнительный анализ методов</a:t>
            </a:r>
          </a:p>
          <a:p>
            <a:pPr algn="just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55CF68-9AFB-2489-8250-2379401D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2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9FEFDE3-7EA6-3531-BE6C-32206C89D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503" y="1942022"/>
            <a:ext cx="4463724" cy="297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46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9EA1-C6B8-0E18-6FCD-EFA83FF5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246BF-6D66-A2F7-33AF-EB613B06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2336"/>
            <a:ext cx="10058400" cy="80153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One-Hot Encoding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351764-E7EB-AA8B-9938-670B4FB1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92" y="2359632"/>
            <a:ext cx="3697704" cy="2789883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Создает бинарные столбцы для каждой уникальной категории. Семантическая информация сохраняется за счет того, что модель может самостоятельно выучить вес каждой отдельной категории, не навязывая ей ложного порядкового соотношения.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965096-D630-3F2F-6D3D-3CF0D34B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C56275-31E0-DDF3-CEE8-13BEBFD1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16" y="2136808"/>
            <a:ext cx="6904121" cy="30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44B-9C4B-8455-1A83-E227EE8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79B91-493E-1EF2-B1BD-261ED2C8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07413"/>
            <a:ext cx="10058400" cy="801533"/>
          </a:xfrm>
        </p:spPr>
        <p:txBody>
          <a:bodyPr/>
          <a:lstStyle/>
          <a:p>
            <a:pPr algn="ctr"/>
            <a:r>
              <a:rPr lang="ru-RU" dirty="0" err="1"/>
              <a:t>Integer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D98544-065F-7A4A-EB60-A0721481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48" y="2117697"/>
            <a:ext cx="4599432" cy="262260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Просто заменяет категории целыми числами (например, от 1 до N). Этот метод </a:t>
            </a:r>
            <a:r>
              <a:rPr lang="ru-RU" b="1" dirty="0"/>
              <a:t>не сохраняет</a:t>
            </a:r>
            <a:r>
              <a:rPr lang="ru-RU" dirty="0"/>
              <a:t> семантическую информацию в чистом виде, так как вносит в данные искусственный порядок (категория 2 &gt; категории 1), что заставляет линейные модели и деревья искать несуществующие числовые зависимости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110A90-EA42-B89C-6595-CF49006D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4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E67EB4-EE4A-8ED4-2A00-6F23EACF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2" y="2157234"/>
            <a:ext cx="3801005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7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A5C2-E5FB-98FB-3C3C-F7538A25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F74B1-2815-44E1-9C25-CFB98D46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07413"/>
            <a:ext cx="10058400" cy="801533"/>
          </a:xfrm>
        </p:spPr>
        <p:txBody>
          <a:bodyPr/>
          <a:lstStyle/>
          <a:p>
            <a:pPr algn="ctr"/>
            <a:r>
              <a:rPr lang="en-US" dirty="0"/>
              <a:t>Entropy Encoding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49E3AD-F176-46C2-6F8B-FAFD2B8F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48" y="2117697"/>
            <a:ext cx="4599432" cy="262260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Использует среднее значение целевой переменной (или энтропию) внутри группы для взвешивания кода категории. В отличие от простого подсчета частот, этот метод сохраняет семантику, связывая категорию с ее статистической значимостью для предсказания цели, что особенно полезно для несбалансированных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070589-4CF4-63DC-4A90-005F8141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53BC4D-04AC-B2F2-1019-0F46ECAE2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224" y="2362050"/>
            <a:ext cx="4153480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ED63A-DC87-CBA0-1C1B-9BAE7AF4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35BE2-2FB2-6F34-E74E-ECB58185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07413"/>
            <a:ext cx="10058400" cy="801533"/>
          </a:xfrm>
        </p:spPr>
        <p:txBody>
          <a:bodyPr/>
          <a:lstStyle/>
          <a:p>
            <a:pPr algn="ctr"/>
            <a:r>
              <a:rPr lang="en-US" dirty="0"/>
              <a:t>Target Encoding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89CE0C-5C85-5CC1-8E48-6907C44D4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02" y="2376340"/>
            <a:ext cx="4599432" cy="2105319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Заменяет категорию на среднее значение целевой переменной по этой группе. Он отлично сохраняет семантику, напрямую улавливая связь категории с результатом, но требует регуляризации (сглаживания), чтобы избежать переобучения на редких значениях.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E98BFB-2C83-F482-B2E6-7BFBBE7B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6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587D2C-DDED-ADF4-A42B-C923280A4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283" y="2328709"/>
            <a:ext cx="5401429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5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68FA-5057-98DE-BDBC-F12D0EEC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1780D-26BD-52D3-4772-0A594735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07413"/>
            <a:ext cx="10058400" cy="801533"/>
          </a:xfrm>
        </p:spPr>
        <p:txBody>
          <a:bodyPr/>
          <a:lstStyle/>
          <a:p>
            <a:pPr algn="ctr"/>
            <a:r>
              <a:rPr lang="en-US" dirty="0" err="1"/>
              <a:t>CatBoost</a:t>
            </a:r>
            <a:r>
              <a:rPr lang="en-US" dirty="0"/>
              <a:t> Encoding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A49557-152F-7C11-23E3-B6137DD9F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96" y="1886711"/>
            <a:ext cx="9558528" cy="125882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Усовершенствованная версия </a:t>
            </a:r>
            <a:r>
              <a:rPr lang="ru-RU" dirty="0" err="1"/>
              <a:t>target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ru-RU" dirty="0"/>
              <a:t>, где значение для объекта вычисляется по среднему значения цели только по предыдущим объектам выборки (принцип упорядоченности). Это позволяет сохранить максимально чистую семантическую связь, полностью исключая утечку данных и смещение оценки, характерные для классического </a:t>
            </a:r>
            <a:r>
              <a:rPr lang="ru-RU" dirty="0" err="1"/>
              <a:t>target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ru-RU" dirty="0"/>
              <a:t>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F9DFC3-D04A-CD8B-0D00-2DA265AC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E8B6DF-67D0-23E7-08CC-859E50819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03" y="3363890"/>
            <a:ext cx="7364746" cy="21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1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CB591-A38E-C1D8-4FE4-D70C71AF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BB6EE-0A5D-47AD-9F51-E45FB1F3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370252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Диаграмма последовательности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DD8909-28A9-4D68-A3F4-FA1F482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8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E7DB127-ECD0-7BCF-900D-CAE97DB7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2" b="-1"/>
          <a:stretch>
            <a:fillRect/>
          </a:stretch>
        </p:blipFill>
        <p:spPr>
          <a:xfrm>
            <a:off x="889954" y="1389888"/>
            <a:ext cx="10308459" cy="413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93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6771-2422-E506-F21A-C7E03282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461C5-36B2-71FD-9F53-ED70B12B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370252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Диаграмма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9F547D-9A09-E0C4-4D53-34C104FA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9</a:t>
            </a:fld>
            <a:endParaRPr lang="ru-RU"/>
          </a:p>
        </p:txBody>
      </p:sp>
      <p:pic>
        <p:nvPicPr>
          <p:cNvPr id="5124" name="Picture 4" descr="PlantUML diagram">
            <a:extLst>
              <a:ext uri="{FF2B5EF4-FFF2-40B4-BE49-F238E27FC236}">
                <a16:creationId xmlns:a16="http://schemas.microsoft.com/office/drawing/2014/main" id="{B639F29B-7515-8AE5-6BCE-897696703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85" y="1309036"/>
            <a:ext cx="11415630" cy="471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916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DA73B-6D90-0B34-0654-A0793002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A9A16-6C77-98D2-60C9-8A3E768B3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284511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Интерфейс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6D647B-B0A2-ADBC-B5E3-69F0773A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161D93-FC55-0B59-C24A-CF533104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50" y="1144569"/>
            <a:ext cx="10934299" cy="456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6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EB8F-A8D6-8ECE-4296-7766A1B0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A630E-A8E9-6780-DE26-21D3461E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2336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Сравнительный анализ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3CBCDB-8FEC-C8B7-A0CB-82561163C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86000"/>
            <a:ext cx="4599432" cy="3400214"/>
          </a:xfrm>
        </p:spPr>
        <p:txBody>
          <a:bodyPr/>
          <a:lstStyle/>
          <a:p>
            <a:pPr algn="just"/>
            <a:r>
              <a:rPr lang="ru-RU" dirty="0"/>
              <a:t>Для оценки эффективности различных методов кодирования категориальных признаков было проведено тестирование на трех датасетах различной структуры и размерности. Сравнение выполнялось по следующим критериям: качество кодирования (в процентах), размерность выходного пространства, время выполнения и потеря информации.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4B5FF5-C00C-336B-6C04-0685094D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11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C968E1E-FB54-8D99-75C7-E438991E89BB}"/>
              </a:ext>
            </a:extLst>
          </p:cNvPr>
          <p:cNvSpPr txBox="1">
            <a:spLocks/>
          </p:cNvSpPr>
          <p:nvPr/>
        </p:nvSpPr>
        <p:spPr>
          <a:xfrm>
            <a:off x="6525768" y="2785450"/>
            <a:ext cx="4599432" cy="340021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Датасеты: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err="1"/>
              <a:t>CarPrice_Assignment</a:t>
            </a:r>
            <a:endParaRPr lang="ru-RU" dirty="0"/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Healthcare</a:t>
            </a:r>
            <a:endParaRPr lang="ru-RU" dirty="0"/>
          </a:p>
          <a:p>
            <a:pPr marL="457200" indent="-457200" algn="just">
              <a:buFont typeface="+mj-lt"/>
              <a:buAutoNum type="arabicPeriod"/>
            </a:pPr>
            <a:r>
              <a:rPr lang="en-US" dirty="0" err="1"/>
              <a:t>Historical_Pandemic_Epidemic_Dataset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878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F629F-0F1B-E101-B72A-E1756DD9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D75EE5-57FF-4D1E-B105-A6036B0FE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13828F-06C6-4172-B0DE-BAB012020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B2A3A6-962C-4D7A-8272-EDEDD881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348D5E-A2F9-4457-85D6-EF33B01C1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1B172-1566-64C1-8B32-37823D6E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74" y="4746596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Результаты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анализа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945AA6-EB58-F785-43A5-D9F67F3E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74" y="816675"/>
            <a:ext cx="5131653" cy="295925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2E5679E-AF9A-4675-8EB9-82F877C47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315649-5021-A6CA-11BF-2875216A1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856" y="115020"/>
            <a:ext cx="5441967" cy="479916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193D27-0DF9-4485-90D7-D8E69A3F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EF5A4DD-17B0-415A-8F3A-0DEE3FF8F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A73B4A-2570-4D18-9566-12E68828C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797B48-CA42-FB0A-AF42-EAACE695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5726283-AA38-4E85-AA5F-A5EF301525D1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7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E5CE-2451-770B-3FA3-3BDBF9A8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C099C-5659-7782-823F-54BC6386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2336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A3FD3D-A1FC-BCB5-E863-B37BF31A9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2286000"/>
            <a:ext cx="4599432" cy="3400214"/>
          </a:xfrm>
        </p:spPr>
        <p:txBody>
          <a:bodyPr/>
          <a:lstStyle/>
          <a:p>
            <a:pPr algn="just"/>
            <a:r>
              <a:rPr lang="ru-RU" dirty="0"/>
              <a:t>В процессе разработки было проведено комплексное тестирование системы кодирования категориальных признаков. Всего разработано и выполнено 17 автоматизированных тестов с использованием фреймворка </a:t>
            </a:r>
            <a:r>
              <a:rPr lang="ru-RU" dirty="0" err="1"/>
              <a:t>xUnit</a:t>
            </a:r>
            <a:r>
              <a:rPr lang="ru-RU" dirty="0"/>
              <a:t>, охватывающих модульное и функциональное тестирование.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FE2FB8-AAC1-4FAD-9DDE-DD4FC1C2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6B9D33-365C-F549-7B4F-52E7B95B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385" y="1935468"/>
            <a:ext cx="3815502" cy="410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0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57AC-80A9-21BA-0109-36C93ED01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2160B-2BD7-B72B-04EB-CF15F1B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567766"/>
            <a:ext cx="10058400" cy="801533"/>
          </a:xfrm>
        </p:spPr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08DAB1-324D-AB20-942C-09A6891E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14</a:t>
            </a:fld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5AE6DD8-D3DE-8884-E79E-F5B54B79C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002536"/>
            <a:ext cx="5877653" cy="3465576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 ходе выполнения данной работы была достигнута поставленная цель — разработано программное средство для сравнительного анализа методов преобразования категориальных признаков с сохранением семантической информации, позволяющее оценить эффективность различных подходов кодирования при работе с </a:t>
            </a:r>
            <a:r>
              <a:rPr lang="ru-RU" dirty="0" err="1"/>
              <a:t>высокоразмерными</a:t>
            </a:r>
            <a:r>
              <a:rPr lang="ru-RU" dirty="0"/>
              <a:t> данными. Все поставленные задачи были успешно выполнены. </a:t>
            </a:r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37F39381-E02C-2598-EA89-418AD1ECB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708" y="2002536"/>
            <a:ext cx="3190775" cy="31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84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B18AB-9E86-0A96-5424-F03C4EFA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2ECE20-E877-01EC-3A4B-8D5AD3BE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6283-AA38-4E85-AA5F-A5EF301525D1}" type="slidenum">
              <a:rPr lang="ru-RU" smtClean="0"/>
              <a:t>15</a:t>
            </a:fld>
            <a:endParaRPr lang="ru-RU"/>
          </a:p>
        </p:txBody>
      </p:sp>
      <p:pic>
        <p:nvPicPr>
          <p:cNvPr id="7172" name="Picture 4" descr="Picture background">
            <a:extLst>
              <a:ext uri="{FF2B5EF4-FFF2-40B4-BE49-F238E27FC236}">
                <a16:creationId xmlns:a16="http://schemas.microsoft.com/office/drawing/2014/main" id="{4FA8DDDE-FE72-2665-F136-641B977FE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9490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136</TotalTime>
  <Words>497</Words>
  <Application>Microsoft Office PowerPoint</Application>
  <PresentationFormat>Широкоэкранный</PresentationFormat>
  <Paragraphs>49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Ретро</vt:lpstr>
      <vt:lpstr>МИНОРБНАУКИ РОССИИ ФГБОУ ВО «ТвГТУ»  Факультет информационных технологий  Кафедра программного обеспечения  Направление подготовки бакалавров 09.03.04  Программная инженерия    Презентация на тему: Преобразование категориальных признаков с сохранением семантической информации  Выполнил студент 4 курса группы Б.ПИН.РИС.2206  Аванесян Григорий Ромаевич Проверил: Мальков А. А. </vt:lpstr>
      <vt:lpstr>Цель и задачи работы</vt:lpstr>
      <vt:lpstr> One-Hot Encoding</vt:lpstr>
      <vt:lpstr>Integer Encoding </vt:lpstr>
      <vt:lpstr>Entropy Encoding</vt:lpstr>
      <vt:lpstr>Target Encoding</vt:lpstr>
      <vt:lpstr>CatBoost Encoding</vt:lpstr>
      <vt:lpstr>Диаграмма последовательности</vt:lpstr>
      <vt:lpstr>Диаграмма классов</vt:lpstr>
      <vt:lpstr>Интерфейс приложения</vt:lpstr>
      <vt:lpstr>Сравнительный анализ методов</vt:lpstr>
      <vt:lpstr>Результаты анализа</vt:lpstr>
      <vt:lpstr>Тестирование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МИНОРБНАУКИ РОССИИ ФГБОУ ВО «ТвГТУ»  Факультет информационных технологий  Кафедра программного обеспечения  Направление подготовки бакалавров 09.03.04  Программная инженерия    Презентация на тему: Памятник Петру 1  Выполнил студент 4 курса группы Б.ПИН.РИС.2206  Аванесян Григорий Ромаевич </dc:title>
  <dc:creator>Григорий Аванесян</dc:creator>
  <cp:lastModifiedBy>Григорий Аванесян</cp:lastModifiedBy>
  <cp:revision>4</cp:revision>
  <dcterms:created xsi:type="dcterms:W3CDTF">2026-03-10T09:20:01Z</dcterms:created>
  <dcterms:modified xsi:type="dcterms:W3CDTF">2026-03-31T21:42:14Z</dcterms:modified>
</cp:coreProperties>
</file>