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27"/>
  </p:notesMasterIdLst>
  <p:sldIdLst>
    <p:sldId id="256" r:id="rId2"/>
    <p:sldId id="257" r:id="rId3"/>
    <p:sldId id="259" r:id="rId4"/>
    <p:sldId id="260" r:id="rId5"/>
    <p:sldId id="266" r:id="rId6"/>
    <p:sldId id="267" r:id="rId7"/>
    <p:sldId id="268" r:id="rId8"/>
    <p:sldId id="261" r:id="rId9"/>
    <p:sldId id="269" r:id="rId10"/>
    <p:sldId id="262" r:id="rId11"/>
    <p:sldId id="263" r:id="rId12"/>
    <p:sldId id="280" r:id="rId13"/>
    <p:sldId id="273" r:id="rId14"/>
    <p:sldId id="274" r:id="rId15"/>
    <p:sldId id="276" r:id="rId16"/>
    <p:sldId id="277" r:id="rId17"/>
    <p:sldId id="278" r:id="rId18"/>
    <p:sldId id="279" r:id="rId19"/>
    <p:sldId id="275" r:id="rId20"/>
    <p:sldId id="272" r:id="rId21"/>
    <p:sldId id="270" r:id="rId22"/>
    <p:sldId id="281" r:id="rId23"/>
    <p:sldId id="271" r:id="rId24"/>
    <p:sldId id="264" r:id="rId25"/>
    <p:sldId id="26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73" autoAdjust="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outlineViewPr>
    <p:cViewPr>
      <p:scale>
        <a:sx n="33" d="100"/>
        <a:sy n="33" d="100"/>
      </p:scale>
      <p:origin x="0" y="-460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D069A4-CB1F-4171-8BFA-91DF1381155B}" type="datetimeFigureOut">
              <a:rPr lang="ru-RU" smtClean="0"/>
              <a:t>07.04.2026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57E2E4-2296-4E5C-94D7-E3BBE74C06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472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3979F6-D24E-47C2-A27A-E4EF5F938B5D}" type="datetime1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8335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6BD20-12E1-452E-BD5F-0A0D752D139A}" type="datetime1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325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018E1-4B20-46F0-92E3-679BB36C6235}" type="datetime1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138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7B68B8-2C20-4CB0-9EC9-41EB711C303F}" type="datetime1">
              <a:rPr lang="ru-RU" smtClean="0"/>
              <a:t>07.04.2026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0423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88CF67-1E21-48C6-8513-84CD8C6BB31A}" type="datetime1">
              <a:rPr lang="ru-RU" smtClean="0"/>
              <a:t>07.04.2026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9166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A2EEC-B1C3-4208-B263-39B570A113CA}" type="datetime1">
              <a:rPr lang="ru-RU" smtClean="0"/>
              <a:t>07.04.2026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3306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B3C35-94BF-4A5E-9485-3EAD2583A63F}" type="datetime1">
              <a:rPr lang="ru-RU" smtClean="0"/>
              <a:t>07.04.2026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3263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DFFE024-7BB8-43AF-BB4F-7336D6936167}" type="datetime1">
              <a:rPr lang="ru-RU" smtClean="0"/>
              <a:t>07.04.2026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6419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AC94A-3C4C-4AA2-B858-501161EC3B80}" type="datetime1">
              <a:rPr lang="ru-RU" smtClean="0"/>
              <a:t>07.04.2026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5768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2B616-F629-4014-86A1-BA1CB29A7BB9}" type="datetime1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2969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CC3FD-F2AE-4461-B23D-77B050CF3ABF}" type="datetime1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2802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D7F385B-51D8-4C55-8700-712BF29E8802}" type="datetime1">
              <a:rPr lang="ru-RU" smtClean="0"/>
              <a:t>07.04.2026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25726283-AA38-4E85-AA5F-A5EF301525D1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4477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F50373-8EDB-4139-987B-249EB5912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0928" y="965200"/>
            <a:ext cx="5999002" cy="4927600"/>
          </a:xfrm>
        </p:spPr>
        <p:txBody>
          <a:bodyPr anchor="ctr">
            <a:normAutofit/>
          </a:bodyPr>
          <a:lstStyle/>
          <a:p>
            <a:pPr algn="ctr"/>
            <a:r>
              <a:rPr lang="ru-RU" sz="2000" dirty="0">
                <a:solidFill>
                  <a:schemeClr val="tx2"/>
                </a:solidFill>
              </a:rPr>
              <a:t>МИНОРБНАУКИ РОССИИ ФГБОУ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ВО «</a:t>
            </a:r>
            <a:r>
              <a:rPr lang="ru-RU" sz="2000" dirty="0" err="1">
                <a:solidFill>
                  <a:schemeClr val="tx2"/>
                </a:solidFill>
              </a:rPr>
              <a:t>ТвГТУ</a:t>
            </a:r>
            <a:r>
              <a:rPr lang="ru-RU" sz="2000" dirty="0">
                <a:solidFill>
                  <a:schemeClr val="tx2"/>
                </a:solidFill>
              </a:rPr>
              <a:t>»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Факультет информационных технологий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Кафедра программного обеспечения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Направление подготовки бакалавров 09.03.04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 Программная инженерия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 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>
                <a:solidFill>
                  <a:schemeClr val="tx2"/>
                </a:solidFill>
              </a:rPr>
              <a:t> Реферат </a:t>
            </a:r>
            <a:r>
              <a:rPr lang="ru-RU" sz="2000" dirty="0">
                <a:solidFill>
                  <a:schemeClr val="tx2"/>
                </a:solidFill>
              </a:rPr>
              <a:t>на тему: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Преобразование категориальных признаков с сохранением семантической информации</a:t>
            </a:r>
            <a:br>
              <a:rPr lang="ru-RU" sz="2000" dirty="0">
                <a:solidFill>
                  <a:schemeClr val="tx2"/>
                </a:solidFill>
              </a:rPr>
            </a:b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Выполнил студент 4 курса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группы Б.ПИН.РИС.2206 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Аванесян Григорий </a:t>
            </a:r>
            <a:r>
              <a:rPr lang="ru-RU" sz="2000" dirty="0" err="1">
                <a:solidFill>
                  <a:schemeClr val="tx2"/>
                </a:solidFill>
              </a:rPr>
              <a:t>Ромаевич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Проверил:</a:t>
            </a:r>
            <a:br>
              <a:rPr lang="ru-RU" sz="2000" dirty="0">
                <a:solidFill>
                  <a:schemeClr val="tx2"/>
                </a:solidFill>
              </a:rPr>
            </a:br>
            <a:r>
              <a:rPr lang="ru-RU" sz="2000" dirty="0">
                <a:solidFill>
                  <a:schemeClr val="tx2"/>
                </a:solidFill>
              </a:rPr>
              <a:t>Мальков А. А.</a:t>
            </a:r>
            <a:br>
              <a:rPr lang="ru-RU" sz="2000" dirty="0">
                <a:solidFill>
                  <a:schemeClr val="tx2"/>
                </a:solidFill>
              </a:rPr>
            </a:br>
            <a:endParaRPr lang="ru-RU" sz="2000" dirty="0">
              <a:solidFill>
                <a:schemeClr val="tx2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ACD73B2-B018-1B53-39AC-F73C94F5D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2154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752277-5DE6-44A2-ADB8-C7CB96757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Цель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933FE1-F73A-4C21-955B-D3E3859CC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7552" y="1956816"/>
            <a:ext cx="5422392" cy="3776472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ru-RU" b="1" dirty="0"/>
              <a:t>Цель работы</a:t>
            </a:r>
            <a:endParaRPr lang="ru-RU" dirty="0"/>
          </a:p>
          <a:p>
            <a:pPr algn="just"/>
            <a:r>
              <a:rPr lang="ru-RU" dirty="0"/>
              <a:t>Разработка программного средства для сравнительного анализа методов преобразования категориальных признаков с сохранением семантической информации, позволяющего оценить эффективность различных подходов кодирования при работе с </a:t>
            </a:r>
            <a:r>
              <a:rPr lang="ru-RU" dirty="0" err="1"/>
              <a:t>высокоразмерными</a:t>
            </a:r>
            <a:r>
              <a:rPr lang="ru-RU" dirty="0"/>
              <a:t> данными.</a:t>
            </a:r>
          </a:p>
          <a:p>
            <a:pPr algn="just"/>
            <a:r>
              <a:rPr lang="ru-RU" b="1" dirty="0"/>
              <a:t>Задачи </a:t>
            </a:r>
            <a:endParaRPr lang="ru-RU" dirty="0"/>
          </a:p>
          <a:p>
            <a:pPr algn="just"/>
            <a:r>
              <a:rPr lang="ru-RU" dirty="0"/>
              <a:t>Анализ существующих методов кодирования категориальных признаков</a:t>
            </a:r>
          </a:p>
          <a:p>
            <a:pPr algn="just"/>
            <a:r>
              <a:rPr lang="ru-RU" dirty="0"/>
              <a:t>Разработка программной архитектуры</a:t>
            </a:r>
          </a:p>
          <a:p>
            <a:pPr algn="just"/>
            <a:r>
              <a:rPr lang="ru-RU" dirty="0"/>
              <a:t>Реализация методов кодирования</a:t>
            </a:r>
          </a:p>
          <a:p>
            <a:pPr algn="just"/>
            <a:r>
              <a:rPr lang="ru-RU" dirty="0"/>
              <a:t>Создание пользовательского интерфейса</a:t>
            </a:r>
          </a:p>
          <a:p>
            <a:pPr algn="just"/>
            <a:r>
              <a:rPr lang="ru-RU" dirty="0"/>
              <a:t>Сравнительный анализ методов</a:t>
            </a:r>
          </a:p>
          <a:p>
            <a:pPr algn="just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55CF68-9AFB-2489-8250-2379401D2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2</a:t>
            </a:fld>
            <a:endParaRPr lang="ru-RU"/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A9FEFDE3-7EA6-3531-BE6C-32206C89D8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3503" y="1942022"/>
            <a:ext cx="4463724" cy="2973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8469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69EA1-C6B8-0E18-6FCD-EFA83FF52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7246BF-6D66-A2F7-33AF-EB613B06C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>
            <a:normAutofit fontScale="90000"/>
          </a:bodyPr>
          <a:lstStyle/>
          <a:p>
            <a:pPr algn="ctr"/>
            <a:br>
              <a:rPr lang="en-US" dirty="0"/>
            </a:br>
            <a:r>
              <a:rPr lang="en-US" dirty="0"/>
              <a:t>One-Hot Encoding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351764-E7EB-AA8B-9938-670B4FB1C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292" y="2359632"/>
            <a:ext cx="3697704" cy="2789883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Создает бинарные столбцы для каждой уникальной категории. Семантическая информация сохраняется за счет того, что модель может самостоятельно выучить вес каждой отдельной категории, не навязывая ей ложного порядкового соотношения.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965096-D630-3F2F-6D3D-3CF0D34B0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3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7C56275-31E0-DDF3-CEE8-13BEBFD19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516" y="2136808"/>
            <a:ext cx="6904121" cy="3012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F44B-9C4B-8455-1A83-E227EE89E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179B91-493E-1EF2-B1BD-261ED2C89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ru-RU" dirty="0" err="1"/>
              <a:t>Integer</a:t>
            </a:r>
            <a:r>
              <a:rPr lang="ru-RU" dirty="0"/>
              <a:t> </a:t>
            </a:r>
            <a:r>
              <a:rPr lang="ru-RU" dirty="0" err="1"/>
              <a:t>Encoding</a:t>
            </a:r>
            <a:r>
              <a:rPr lang="ru-RU" dirty="0"/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D98544-065F-7A4A-EB60-A07214817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0048" y="2117697"/>
            <a:ext cx="4599432" cy="2622605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Просто заменяет категории целыми числами (например, от 1 до N). Этот метод </a:t>
            </a:r>
            <a:r>
              <a:rPr lang="ru-RU" b="1" dirty="0"/>
              <a:t>не сохраняет</a:t>
            </a:r>
            <a:r>
              <a:rPr lang="ru-RU" dirty="0"/>
              <a:t> семантическую информацию в чистом виде, так как вносит в данные искусственный порядок (категория 2 &gt; категории 1), что заставляет линейные модели и деревья искать несуществующие числовые зависимости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110A90-EA42-B89C-6595-CF49006D3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4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7E67EB4-EE4A-8ED4-2A00-6F23EACF4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882" y="2157234"/>
            <a:ext cx="3801005" cy="2543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472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A5C2-E5FB-98FB-3C3C-F7538A256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7F74B1-2815-44E1-9C25-CFB98D46D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en-US" dirty="0"/>
              <a:t>Entropy Encoding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49E3AD-F176-46C2-6F8B-FAFD2B8F1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0048" y="2117697"/>
            <a:ext cx="4599432" cy="2622605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Использует среднее значение целевой переменной (или энтропию) внутри группы для взвешивания кода категории. В отличие от простого подсчета частот, этот метод сохраняет семантику, связывая категорию с ее статистической значимостью для предсказания цели, что особенно полезно для несбалансированных данных.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4070589-4CF4-63DC-4A90-005F8141F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5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753BC4D-04AC-B2F2-1019-0F46ECAE2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224" y="2362050"/>
            <a:ext cx="4153480" cy="213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82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ED63A-DC87-CBA0-1C1B-9BAE7AF48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35BE2-2FB2-6F34-E74E-ECB58185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en-US" dirty="0"/>
              <a:t>Target Encoding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89CE0C-5C85-5CC1-8E48-6907C44D46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2102" y="2376340"/>
            <a:ext cx="4599432" cy="2105319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Заменяет категорию на среднее значение целевой переменной по этой группе. Он отлично сохраняет семантику, напрямую улавливая связь категории с результатом, но требует регуляризации (сглаживания), чтобы избежать переобучения на редких значениях. 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8E98BFB-2C83-F482-B2E6-7BFBBE7B1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6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3587D2C-DDED-ADF4-A42B-C923280A4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3283" y="2328709"/>
            <a:ext cx="5401429" cy="21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9503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68FA-5057-98DE-BDBC-F12D0EEC5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D1780D-26BD-52D3-4772-0A5947350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07413"/>
            <a:ext cx="10058400" cy="801533"/>
          </a:xfrm>
        </p:spPr>
        <p:txBody>
          <a:bodyPr/>
          <a:lstStyle/>
          <a:p>
            <a:pPr algn="ctr"/>
            <a:r>
              <a:rPr lang="en-US" dirty="0" err="1"/>
              <a:t>CatBoost</a:t>
            </a:r>
            <a:r>
              <a:rPr lang="en-US" dirty="0"/>
              <a:t> Encoding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A49557-152F-7C11-23E3-B6137DD9F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696" y="1886711"/>
            <a:ext cx="9558528" cy="1258825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ru-RU" dirty="0"/>
              <a:t>Усовершенствованная версия </a:t>
            </a:r>
            <a:r>
              <a:rPr lang="ru-RU" dirty="0" err="1"/>
              <a:t>target</a:t>
            </a:r>
            <a:r>
              <a:rPr lang="ru-RU" dirty="0"/>
              <a:t> </a:t>
            </a:r>
            <a:r>
              <a:rPr lang="ru-RU" dirty="0" err="1"/>
              <a:t>encoding</a:t>
            </a:r>
            <a:r>
              <a:rPr lang="ru-RU" dirty="0"/>
              <a:t>, где значение для объекта вычисляется по среднему значения цели только по предыдущим объектам выборки (принцип упорядоченности). Это позволяет сохранить максимально чистую семантическую связь, полностью исключая утечку данных и смещение оценки, характерные для классического </a:t>
            </a:r>
            <a:r>
              <a:rPr lang="ru-RU" dirty="0" err="1"/>
              <a:t>target</a:t>
            </a:r>
            <a:r>
              <a:rPr lang="ru-RU" dirty="0"/>
              <a:t> </a:t>
            </a:r>
            <a:r>
              <a:rPr lang="ru-RU" dirty="0" err="1"/>
              <a:t>encoding</a:t>
            </a:r>
            <a:r>
              <a:rPr lang="ru-RU" dirty="0"/>
              <a:t>. 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2F9DFC3-D04A-CD8B-0D00-2DA265AC7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7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E8B6DF-67D0-23E7-08CC-859E50819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503" y="3363890"/>
            <a:ext cx="7364746" cy="212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618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CB591-A38E-C1D8-4FE4-D70C71AF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4BB6EE-0A5D-47AD-9F51-E45FB1F3B0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370252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Диаграмма последовательности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2DD8909-28A9-4D68-A3F4-FA1F482F9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8</a:t>
            </a:fld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7DB127-ECD0-7BCF-900D-CAE97DB74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42" b="-1"/>
          <a:stretch>
            <a:fillRect/>
          </a:stretch>
        </p:blipFill>
        <p:spPr>
          <a:xfrm>
            <a:off x="889954" y="1389888"/>
            <a:ext cx="10308459" cy="4130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5939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66771-2422-E506-F21A-C7E03282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7461C5-36B2-71FD-9F53-ED70B12B2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984" y="370252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Диаграмма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9F547D-9A09-E0C4-4D53-34C104FA0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9</a:t>
            </a:fld>
            <a:endParaRPr lang="ru-RU"/>
          </a:p>
        </p:txBody>
      </p:sp>
      <p:pic>
        <p:nvPicPr>
          <p:cNvPr id="5124" name="Picture 4" descr="PlantUML diagram">
            <a:extLst>
              <a:ext uri="{FF2B5EF4-FFF2-40B4-BE49-F238E27FC236}">
                <a16:creationId xmlns:a16="http://schemas.microsoft.com/office/drawing/2014/main" id="{B639F29B-7515-8AE5-6BCE-897696703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185" y="1309036"/>
            <a:ext cx="11415630" cy="4716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916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DA73B-6D90-0B34-0654-A07930025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3A9A16-6C77-98D2-60C9-8A3E768B3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284511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Интерфейс приложения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96D647B-B0A2-ADBC-B5E3-69F0773A9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10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4BD591A-304E-0BA2-89B2-B832D1CA4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1" y="1229384"/>
            <a:ext cx="11012437" cy="5087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63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8EB8F-A8D6-8ECE-4296-7766A1B08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9A630E-A8E9-6780-DE26-21D3461EC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Сравнительный анализ методов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3CBCDB-8FEC-C8B7-A0CB-82561163C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984" y="2286000"/>
            <a:ext cx="4599432" cy="3400214"/>
          </a:xfrm>
        </p:spPr>
        <p:txBody>
          <a:bodyPr/>
          <a:lstStyle/>
          <a:p>
            <a:pPr algn="just"/>
            <a:r>
              <a:rPr lang="ru-RU" dirty="0"/>
              <a:t>Для оценки эффективности различных методов кодирования категориальных признаков было проведено тестирование на трех датасетах различной структуры и размерности. Сравнение выполнялось по следующим критериям: качество кодирования (в процентах), размерность выходного пространства, время выполнения и потеря информации.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44B5FF5-C00C-336B-6C04-0685094DD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11</a:t>
            </a:fld>
            <a:endParaRPr lang="ru-RU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C968E1E-FB54-8D99-75C7-E438991E89BB}"/>
              </a:ext>
            </a:extLst>
          </p:cNvPr>
          <p:cNvSpPr txBox="1">
            <a:spLocks/>
          </p:cNvSpPr>
          <p:nvPr/>
        </p:nvSpPr>
        <p:spPr>
          <a:xfrm>
            <a:off x="6525768" y="2785450"/>
            <a:ext cx="4599432" cy="340021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dirty="0"/>
              <a:t>Датасеты: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CarPrice_Assignment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/>
              <a:t>Healthcare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Historical_Pandemic_Epidemic_Dataset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18782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DEFE94-A052-2D90-04FE-3AB80F24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7D1F7AC-D7ED-3C01-DC50-27CB2F152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25726283-AA38-4E85-AA5F-A5EF301525D1}" type="slidenum">
              <a:rPr lang="en-US" smtClean="0"/>
              <a:pPr defTabSz="914400">
                <a:spcAft>
                  <a:spcPts val="600"/>
                </a:spcAft>
              </a:pPr>
              <a:t>12</a:t>
            </a:fld>
            <a:endParaRPr lang="en-US"/>
          </a:p>
        </p:txBody>
      </p:sp>
      <p:pic>
        <p:nvPicPr>
          <p:cNvPr id="7" name="Объект 6">
            <a:extLst>
              <a:ext uri="{FF2B5EF4-FFF2-40B4-BE49-F238E27FC236}">
                <a16:creationId xmlns:a16="http://schemas.microsoft.com/office/drawing/2014/main" id="{51CEC34C-8B39-BD50-89D9-008DA9EFA79C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731519" y="77002"/>
            <a:ext cx="4016375" cy="6243638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DF0EC8-FA18-5C48-AC8E-F72ED910D34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334903" y="1260124"/>
            <a:ext cx="6456044" cy="327337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Алгоритм</a:t>
            </a:r>
            <a:r>
              <a:rPr lang="en-US" sz="6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6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выбора</a:t>
            </a:r>
            <a:r>
              <a:rPr lang="en-US" sz="6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6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целевой</a:t>
            </a:r>
            <a:r>
              <a:rPr lang="en-US" sz="6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68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переменной</a:t>
            </a:r>
            <a:endParaRPr lang="en-US" sz="6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47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3FE9A-7299-9C02-C860-5AF8F0978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294507-939F-3969-C0A5-243C543A9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Метрики качества кодирования категориальных признаков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9C1D5E-3C30-BFBF-3B99-28865CA63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7152" y="2203187"/>
            <a:ext cx="9354312" cy="4183128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800" b="1" dirty="0"/>
              <a:t>Корреляция Пирсона 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800" b="1" dirty="0"/>
              <a:t>Корреляция </a:t>
            </a:r>
            <a:r>
              <a:rPr lang="ru-RU" sz="2800" b="1" dirty="0" err="1"/>
              <a:t>Спирмена</a:t>
            </a:r>
            <a:r>
              <a:rPr lang="ru-RU" sz="2800" b="1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800" b="1" dirty="0"/>
              <a:t>Взаимная информация</a:t>
            </a:r>
            <a:endParaRPr lang="en-US" sz="2800" b="1" dirty="0"/>
          </a:p>
          <a:p>
            <a:pPr marL="457200" indent="-457200">
              <a:buFont typeface="+mj-lt"/>
              <a:buAutoNum type="arabicPeriod"/>
            </a:pPr>
            <a:r>
              <a:rPr lang="ru-RU" sz="2800" b="1" dirty="0"/>
              <a:t>Коэффициент детерминации 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800" b="1" dirty="0"/>
              <a:t>Качество</a:t>
            </a:r>
          </a:p>
          <a:p>
            <a:br>
              <a:rPr lang="ru-RU" dirty="0"/>
            </a:br>
            <a:br>
              <a:rPr lang="en-US" dirty="0"/>
            </a:br>
            <a:br>
              <a:rPr lang="ru-RU" dirty="0"/>
            </a:br>
            <a:br>
              <a:rPr lang="ru-RU" dirty="0"/>
            </a:br>
            <a:endParaRPr lang="en-US" b="1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D221EF8-EAC5-AF28-ADA2-079439BAC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6810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D9131-A186-4FD9-CB08-CD216DD0B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5DF96D-6F53-9775-AEAF-C3A1395F7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33424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Корреляция Пирсона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BC3E72-0DDD-1919-0180-B0722F98E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408360"/>
            <a:ext cx="10847832" cy="5051425"/>
          </a:xfrm>
        </p:spPr>
        <p:txBody>
          <a:bodyPr>
            <a:normAutofit fontScale="47500" lnSpcReduction="20000"/>
          </a:bodyPr>
          <a:lstStyle/>
          <a:p>
            <a:pPr algn="just"/>
            <a:r>
              <a:rPr lang="ru-RU" sz="4000" dirty="0"/>
              <a:t>Формула:</a:t>
            </a:r>
          </a:p>
          <a:p>
            <a:pPr algn="just"/>
            <a:r>
              <a:rPr lang="en-US" sz="4000" dirty="0"/>
              <a:t>r = </a:t>
            </a:r>
            <a:r>
              <a:rPr lang="el-GR" sz="4000" dirty="0"/>
              <a:t>Σ[(</a:t>
            </a:r>
            <a:r>
              <a:rPr lang="en-US" sz="4000" dirty="0" err="1"/>
              <a:t>X_i</a:t>
            </a:r>
            <a:r>
              <a:rPr lang="en-US" sz="4000" dirty="0"/>
              <a:t> – X̄)(</a:t>
            </a:r>
            <a:r>
              <a:rPr lang="en-US" sz="4000" dirty="0" err="1"/>
              <a:t>Y_i</a:t>
            </a:r>
            <a:r>
              <a:rPr lang="en-US" sz="4000" dirty="0"/>
              <a:t> – Ȳ)] / √[</a:t>
            </a:r>
            <a:r>
              <a:rPr lang="el-GR" sz="4000" dirty="0"/>
              <a:t>Σ(</a:t>
            </a:r>
            <a:r>
              <a:rPr lang="en-US" sz="4000" dirty="0" err="1"/>
              <a:t>X_i</a:t>
            </a:r>
            <a:r>
              <a:rPr lang="en-US" sz="4000" dirty="0"/>
              <a:t> – X̄)² * </a:t>
            </a:r>
            <a:r>
              <a:rPr lang="el-GR" sz="4000" dirty="0"/>
              <a:t>Σ(</a:t>
            </a:r>
            <a:r>
              <a:rPr lang="en-US" sz="4000" dirty="0" err="1"/>
              <a:t>Y_i</a:t>
            </a:r>
            <a:r>
              <a:rPr lang="en-US" sz="4000" dirty="0"/>
              <a:t> – Ȳ)²]</a:t>
            </a:r>
            <a:endParaRPr lang="ru-RU" sz="4000" dirty="0"/>
          </a:p>
          <a:p>
            <a:pPr algn="just"/>
            <a:r>
              <a:rPr lang="ru-RU" sz="4000" dirty="0"/>
              <a:t>Формула в альтернативной форме:</a:t>
            </a:r>
          </a:p>
          <a:p>
            <a:pPr algn="just"/>
            <a:r>
              <a:rPr lang="en-US" sz="4000" dirty="0"/>
              <a:t>r = </a:t>
            </a:r>
            <a:r>
              <a:rPr lang="en-US" sz="4000" dirty="0" err="1"/>
              <a:t>cov</a:t>
            </a:r>
            <a:r>
              <a:rPr lang="en-US" sz="4000" dirty="0"/>
              <a:t>(X,Y) / (</a:t>
            </a:r>
            <a:r>
              <a:rPr lang="el-GR" sz="4000" dirty="0"/>
              <a:t>σ_</a:t>
            </a:r>
            <a:r>
              <a:rPr lang="en-US" sz="4000" dirty="0"/>
              <a:t>X * </a:t>
            </a:r>
            <a:r>
              <a:rPr lang="el-GR" sz="4000" dirty="0"/>
              <a:t>σ_</a:t>
            </a:r>
            <a:r>
              <a:rPr lang="en-US" sz="4000" dirty="0"/>
              <a:t>Y)</a:t>
            </a:r>
            <a:endParaRPr lang="ru-RU" sz="4000" dirty="0"/>
          </a:p>
          <a:p>
            <a:pPr algn="just"/>
            <a:r>
              <a:rPr lang="ru-RU" sz="4000" dirty="0"/>
              <a:t>где: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ru-RU" sz="4000" dirty="0" err="1"/>
              <a:t>Xi</a:t>
            </a:r>
            <a:r>
              <a:rPr lang="ru-RU" sz="4000" dirty="0"/>
              <a:t>, </a:t>
            </a:r>
            <a:r>
              <a:rPr lang="ru-RU" sz="4000" dirty="0" err="1"/>
              <a:t>Yi</a:t>
            </a:r>
            <a:r>
              <a:rPr lang="ru-RU" sz="4000" dirty="0"/>
              <a:t> — значения переменных X и Y соответственно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ru-RU" sz="4000" dirty="0"/>
              <a:t>X̄, Ȳ — средние значения переменных X и Y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ru-RU" sz="4000" dirty="0" err="1"/>
              <a:t>cov</a:t>
            </a:r>
            <a:r>
              <a:rPr lang="ru-RU" sz="4000" dirty="0"/>
              <a:t>(X,Y) — ковариация между X и Y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ru-RU" sz="4000" dirty="0" err="1"/>
              <a:t>σX</a:t>
            </a:r>
            <a:r>
              <a:rPr lang="ru-RU" sz="4000" dirty="0"/>
              <a:t>, </a:t>
            </a:r>
            <a:r>
              <a:rPr lang="ru-RU" sz="4000" dirty="0" err="1"/>
              <a:t>σY</a:t>
            </a:r>
            <a:r>
              <a:rPr lang="ru-RU" sz="4000" dirty="0"/>
              <a:t> — стандартные отклонения переменных X и Y</a:t>
            </a:r>
          </a:p>
          <a:p>
            <a:pPr marL="0" indent="0" algn="just">
              <a:buNone/>
            </a:pPr>
            <a:r>
              <a:rPr lang="ru-RU" sz="4000" dirty="0"/>
              <a:t>Диапазон значений:	от 0  до 1</a:t>
            </a:r>
          </a:p>
          <a:p>
            <a:pPr marL="0" indent="0" algn="just">
              <a:buNone/>
            </a:pPr>
            <a:r>
              <a:rPr lang="ru-RU" sz="4000" dirty="0"/>
              <a:t>Показывает линейную связь между закодированным значением и целевой переменной.</a:t>
            </a:r>
          </a:p>
          <a:p>
            <a:pPr marL="0" indent="0" algn="just">
              <a:buNone/>
            </a:pPr>
            <a:r>
              <a:rPr lang="ru-RU" sz="4000" dirty="0"/>
              <a:t>• 1.0 — идеальная линейная зависимость</a:t>
            </a:r>
          </a:p>
          <a:p>
            <a:pPr marL="0" indent="0" algn="just">
              <a:buNone/>
            </a:pPr>
            <a:r>
              <a:rPr lang="ru-RU" sz="4000" dirty="0"/>
              <a:t>• 0 — линейной связи нет</a:t>
            </a:r>
            <a:endParaRPr lang="en-US" sz="4000" dirty="0"/>
          </a:p>
          <a:p>
            <a:pPr algn="just"/>
            <a:endParaRPr lang="ru-RU" dirty="0"/>
          </a:p>
          <a:p>
            <a:pPr algn="just"/>
            <a:endParaRPr lang="en-US" dirty="0"/>
          </a:p>
          <a:p>
            <a:pPr algn="just"/>
            <a:endParaRPr lang="en-US" dirty="0"/>
          </a:p>
          <a:p>
            <a:pPr algn="just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2EC01AE-9B70-C12F-566D-C6E4A95FC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14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D1034AB-6334-1095-A982-2D4F5BF44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716" y="1809186"/>
            <a:ext cx="5270788" cy="141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085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659AE-5CCA-3B5B-22B8-F94600BB3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1DE8D9-A3FE-4423-8A97-C295BCB91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84960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 Корреляция </a:t>
            </a:r>
            <a:r>
              <a:rPr lang="ru-RU" dirty="0" err="1"/>
              <a:t>Спирмена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3FC8E5-6EF8-9138-D038-9DC9BC00D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024" y="1923235"/>
            <a:ext cx="9110472" cy="3648272"/>
          </a:xfrm>
        </p:spPr>
        <p:txBody>
          <a:bodyPr>
            <a:normAutofit fontScale="55000" lnSpcReduction="20000"/>
          </a:bodyPr>
          <a:lstStyle/>
          <a:p>
            <a:pPr algn="just"/>
            <a:r>
              <a:rPr lang="ru-RU" sz="4000" dirty="0"/>
              <a:t>Формула:</a:t>
            </a:r>
          </a:p>
          <a:p>
            <a:pPr algn="just"/>
            <a:r>
              <a:rPr lang="pt-BR" sz="4000" dirty="0"/>
              <a:t>ρ = 1 – (6 * Σd²) / (n * (n² – 1))</a:t>
            </a:r>
          </a:p>
          <a:p>
            <a:pPr marL="742950" indent="-742950" algn="just">
              <a:buFont typeface="+mj-lt"/>
              <a:buAutoNum type="arabicPeriod"/>
            </a:pPr>
            <a:r>
              <a:rPr lang="ru-RU" sz="4000" dirty="0"/>
              <a:t>ρ (</a:t>
            </a:r>
            <a:r>
              <a:rPr lang="ru-RU" sz="4000" dirty="0" err="1"/>
              <a:t>ро</a:t>
            </a:r>
            <a:r>
              <a:rPr lang="ru-RU" sz="4000" dirty="0"/>
              <a:t>) — коэффициент корреляции </a:t>
            </a:r>
            <a:r>
              <a:rPr lang="ru-RU" sz="4000" dirty="0" err="1"/>
              <a:t>Спирмена</a:t>
            </a:r>
            <a:endParaRPr lang="ru-RU" sz="4000" dirty="0"/>
          </a:p>
          <a:p>
            <a:pPr marL="742950" indent="-742950" algn="just">
              <a:buFont typeface="+mj-lt"/>
              <a:buAutoNum type="arabicPeriod"/>
            </a:pPr>
            <a:r>
              <a:rPr lang="ru-RU" sz="4000" dirty="0"/>
              <a:t>d — разность между рангами соответствующих признаков</a:t>
            </a:r>
          </a:p>
          <a:p>
            <a:pPr marL="742950" indent="-742950" algn="just">
              <a:buFont typeface="+mj-lt"/>
              <a:buAutoNum type="arabicPeriod"/>
            </a:pPr>
            <a:r>
              <a:rPr lang="ru-RU" sz="4000" dirty="0"/>
              <a:t>n — количество наблюдений (пар значений)</a:t>
            </a:r>
          </a:p>
          <a:p>
            <a:pPr marL="0" indent="0" algn="just">
              <a:buNone/>
            </a:pPr>
            <a:r>
              <a:rPr lang="ru-RU" sz="4000" dirty="0"/>
              <a:t>Диапазон значений: от 0  до 1</a:t>
            </a:r>
          </a:p>
          <a:p>
            <a:pPr marL="0" indent="0" algn="just">
              <a:buNone/>
            </a:pPr>
            <a:r>
              <a:rPr lang="ru-RU" sz="4000" dirty="0"/>
              <a:t>Показывает монотонную связь между кодом и целевой переменной. Не требует линейности, достаточно, чтобы при увеличении кода целевая переменная в общем случае тоже увеличивалась (или уменьшалась). Устойчива к выбросам, в отличие от корреляции Пирсона.</a:t>
            </a:r>
            <a:endParaRPr lang="ru-RU" dirty="0"/>
          </a:p>
          <a:p>
            <a:pPr algn="just"/>
            <a:endParaRPr lang="en-US" dirty="0"/>
          </a:p>
          <a:p>
            <a:pPr algn="just"/>
            <a:endParaRPr lang="en-US" dirty="0"/>
          </a:p>
          <a:p>
            <a:pPr algn="just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542B61A-2F02-F2C5-A828-A4880EB21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15</a:t>
            </a:fld>
            <a:endParaRPr lang="ru-RU"/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A7C14C55-68ED-192C-4B8B-06B7EC8719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5112" y="1923235"/>
            <a:ext cx="3537371" cy="1607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30327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22DCF-7527-B258-2435-34D5A1C6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A7B606-D54E-E1C5-9F97-AFE9ECE22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84960"/>
            <a:ext cx="10058400" cy="801533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Взаимная информация(</a:t>
            </a:r>
            <a:r>
              <a:rPr lang="en-US" dirty="0"/>
              <a:t>MI</a:t>
            </a:r>
            <a:r>
              <a:rPr lang="ru-RU" dirty="0"/>
              <a:t>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2DF49-56C4-F94E-D18A-FA89005BC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798948"/>
            <a:ext cx="10482072" cy="4148381"/>
          </a:xfrm>
        </p:spPr>
        <p:txBody>
          <a:bodyPr>
            <a:normAutofit fontScale="55000" lnSpcReduction="20000"/>
          </a:bodyPr>
          <a:lstStyle/>
          <a:p>
            <a:pPr algn="just"/>
            <a:r>
              <a:rPr lang="ru-RU" sz="4000" dirty="0"/>
              <a:t>Формула:</a:t>
            </a:r>
          </a:p>
          <a:p>
            <a:pPr algn="just"/>
            <a:endParaRPr lang="ru-RU" sz="4000" dirty="0"/>
          </a:p>
          <a:p>
            <a:pPr marL="0" indent="0" algn="just">
              <a:buNone/>
            </a:pPr>
            <a:endParaRPr lang="ru-RU" sz="4000" dirty="0"/>
          </a:p>
          <a:p>
            <a:pPr algn="just"/>
            <a:r>
              <a:rPr lang="ru-RU" sz="4000" dirty="0"/>
              <a:t>Где</a:t>
            </a:r>
            <a:r>
              <a:rPr lang="en-US" sz="4000" dirty="0"/>
              <a:t> P(X,Y) </a:t>
            </a:r>
            <a:r>
              <a:rPr lang="ru-RU" sz="4000" dirty="0"/>
              <a:t>является совместной функцией вероятности распределения</a:t>
            </a:r>
            <a:r>
              <a:rPr lang="en-US" sz="4000" dirty="0"/>
              <a:t> X </a:t>
            </a:r>
            <a:r>
              <a:rPr lang="ru-RU" sz="4000" dirty="0"/>
              <a:t>и </a:t>
            </a:r>
            <a:r>
              <a:rPr lang="en-US" sz="4000" dirty="0"/>
              <a:t>Y</a:t>
            </a:r>
            <a:r>
              <a:rPr lang="ru-RU" sz="4000" dirty="0"/>
              <a:t>, и </a:t>
            </a:r>
            <a:r>
              <a:rPr lang="en-US" sz="4000" dirty="0" err="1"/>
              <a:t>Px</a:t>
            </a:r>
            <a:r>
              <a:rPr lang="en-US" sz="4000" dirty="0"/>
              <a:t> </a:t>
            </a:r>
            <a:r>
              <a:rPr lang="ru-RU" sz="4000" dirty="0"/>
              <a:t>и </a:t>
            </a:r>
            <a:r>
              <a:rPr lang="en-US" sz="4000" dirty="0"/>
              <a:t>Py </a:t>
            </a:r>
            <a:r>
              <a:rPr lang="ru-RU" sz="4000" dirty="0"/>
              <a:t>являются функциями предельной вероятности </a:t>
            </a:r>
            <a:r>
              <a:rPr lang="en-US" sz="4000" dirty="0"/>
              <a:t>X </a:t>
            </a:r>
            <a:r>
              <a:rPr lang="ru-RU" sz="4000" dirty="0"/>
              <a:t>и </a:t>
            </a:r>
            <a:r>
              <a:rPr lang="en-US" sz="4000" dirty="0"/>
              <a:t>Y </a:t>
            </a:r>
            <a:r>
              <a:rPr lang="ru-RU" sz="4000" dirty="0"/>
              <a:t>соответственно</a:t>
            </a:r>
          </a:p>
          <a:p>
            <a:pPr marL="0" indent="0" algn="just">
              <a:buNone/>
            </a:pPr>
            <a:r>
              <a:rPr lang="ru-RU" sz="4000" dirty="0"/>
              <a:t>Диапазон значений: от 0  до 1</a:t>
            </a:r>
          </a:p>
          <a:p>
            <a:pPr marL="0" indent="0" algn="just">
              <a:buNone/>
            </a:pPr>
            <a:r>
              <a:rPr lang="ru-RU" sz="4000" dirty="0"/>
              <a:t>Показывает любую (в том числе нелинейную) зависимость между кодом и целью. Сколько информации о целевой переменной дает знание закодированного значения. Не чувствительна к типу связи (линейная, нелинейная, периодическая). Значение 0 означает независимость, 1 — полную детерминированность.</a:t>
            </a:r>
            <a:endParaRPr lang="en-US" dirty="0"/>
          </a:p>
          <a:p>
            <a:pPr algn="just"/>
            <a:endParaRPr lang="en-US" dirty="0"/>
          </a:p>
          <a:p>
            <a:pPr algn="just"/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4734422-686F-F61A-5F4D-ADB764498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16</a:t>
            </a:fld>
            <a:endParaRPr lang="ru-RU"/>
          </a:p>
        </p:txBody>
      </p:sp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B12A2248-4B53-8FCC-F4F5-53C458876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248802"/>
            <a:ext cx="4201111" cy="71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31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F56B5-CB16-7B3F-A65C-C0536D998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D8BDFF-8F8A-7C1D-06CF-4C5D23854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84960"/>
            <a:ext cx="10058400" cy="801533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Коэффициент детерминации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92112CD-E8BC-C3C1-FAC7-B98A6E6E5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798948"/>
            <a:ext cx="10482072" cy="4148381"/>
          </a:xfrm>
        </p:spPr>
        <p:txBody>
          <a:bodyPr>
            <a:normAutofit fontScale="62500" lnSpcReduction="20000"/>
          </a:bodyPr>
          <a:lstStyle/>
          <a:p>
            <a:pPr algn="just"/>
            <a:r>
              <a:rPr lang="ru-RU" sz="4000" dirty="0"/>
              <a:t>Формула:</a:t>
            </a:r>
          </a:p>
          <a:p>
            <a:pPr algn="just"/>
            <a:r>
              <a:rPr lang="nn-NO" sz="4000" dirty="0"/>
              <a:t>R² = 1 – (Σ(y_i – ŷ_i)² / Σ(y_i – ȳ)²)</a:t>
            </a:r>
            <a:endParaRPr lang="ru-RU" sz="4000" dirty="0"/>
          </a:p>
          <a:p>
            <a:pPr marL="0" indent="0" algn="just">
              <a:buNone/>
            </a:pPr>
            <a:r>
              <a:rPr lang="ru-RU" sz="4000" dirty="0"/>
              <a:t>где:</a:t>
            </a:r>
          </a:p>
          <a:p>
            <a:pPr marL="0" indent="0" algn="just">
              <a:buNone/>
            </a:pPr>
            <a:r>
              <a:rPr lang="ru-RU" sz="4000" dirty="0" err="1"/>
              <a:t>y_i</a:t>
            </a:r>
            <a:r>
              <a:rPr lang="ru-RU" sz="4000" dirty="0"/>
              <a:t> — фактические значения</a:t>
            </a:r>
          </a:p>
          <a:p>
            <a:pPr marL="0" indent="0" algn="just">
              <a:buNone/>
            </a:pPr>
            <a:r>
              <a:rPr lang="ru-RU" sz="4000" dirty="0" err="1"/>
              <a:t>ŷ_i</a:t>
            </a:r>
            <a:r>
              <a:rPr lang="ru-RU" sz="4000" dirty="0"/>
              <a:t> — значения, предсказанные моделью</a:t>
            </a:r>
          </a:p>
          <a:p>
            <a:pPr marL="0" indent="0" algn="just">
              <a:buNone/>
            </a:pPr>
            <a:r>
              <a:rPr lang="ru-RU" sz="4000" dirty="0"/>
              <a:t>ȳ — среднее значение зависимой переменной</a:t>
            </a:r>
          </a:p>
          <a:p>
            <a:pPr marL="0" indent="0" algn="just">
              <a:buNone/>
            </a:pPr>
            <a:r>
              <a:rPr lang="ru-RU" sz="4000" dirty="0"/>
              <a:t>Диапазон значений: от 0  до 1</a:t>
            </a:r>
          </a:p>
          <a:p>
            <a:pPr marL="0" indent="0" algn="just">
              <a:buNone/>
            </a:pPr>
            <a:r>
              <a:rPr lang="ru-RU" sz="4000" dirty="0"/>
              <a:t>Показывает какую долю дисперсии целевой переменной можно объяснить линейной зависимостью от закодированного значения. 1.0 — идеальное линейное предсказание, 0 — модель не лучше среднего значения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CCA075-6478-4C9D-3935-585475937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17</a:t>
            </a:fld>
            <a:endParaRPr lang="ru-RU"/>
          </a:p>
        </p:txBody>
      </p:sp>
      <p:pic>
        <p:nvPicPr>
          <p:cNvPr id="4104" name="Picture 8" descr="Picture background">
            <a:extLst>
              <a:ext uri="{FF2B5EF4-FFF2-40B4-BE49-F238E27FC236}">
                <a16:creationId xmlns:a16="http://schemas.microsoft.com/office/drawing/2014/main" id="{3A89A532-A86E-CC01-EA8B-26B077F8A6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27" r="38461" b="38825"/>
          <a:stretch>
            <a:fillRect/>
          </a:stretch>
        </p:blipFill>
        <p:spPr bwMode="auto">
          <a:xfrm>
            <a:off x="6801532" y="2036692"/>
            <a:ext cx="3098926" cy="1611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0397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72451-14E1-FECE-D10A-C3B62F1BD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A6711D-5137-84E2-8732-350014AE2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84960"/>
            <a:ext cx="10058400" cy="801533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Качество кодирования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6B107F-CD53-FE12-A3AA-C571AC08E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798948"/>
            <a:ext cx="10482072" cy="4148381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ru-RU" sz="4000" dirty="0"/>
              <a:t>Формула:</a:t>
            </a:r>
          </a:p>
          <a:p>
            <a:pPr algn="just"/>
            <a:r>
              <a:rPr lang="ru-RU" sz="4000" dirty="0"/>
              <a:t>Качество = (Пирсон × 0.35 + </a:t>
            </a:r>
            <a:r>
              <a:rPr lang="ru-RU" sz="4000" dirty="0" err="1"/>
              <a:t>Спирмен</a:t>
            </a:r>
            <a:r>
              <a:rPr lang="ru-RU" sz="4000" dirty="0"/>
              <a:t> × 0.25 + MI × 0.25 + R² × 0.15) × 100%</a:t>
            </a:r>
          </a:p>
          <a:p>
            <a:pPr marL="0" indent="0" algn="just">
              <a:buNone/>
            </a:pPr>
            <a:r>
              <a:rPr lang="ru-RU" sz="4000" dirty="0"/>
              <a:t>Диапазон значений: 0% – 100%</a:t>
            </a:r>
          </a:p>
          <a:p>
            <a:pPr marL="0" indent="0" algn="just">
              <a:buNone/>
            </a:pPr>
            <a:r>
              <a:rPr lang="ru-RU" sz="4000" dirty="0"/>
              <a:t>Показывает интегральную оценку качества кодирования. Чем выше, тем лучше числовой код отражает зависимость от целевой переменной. Веса подобраны так, чтобы корреляция Пирсона (линейная связь) имела наибольший приоритет, а R² (предсказательная способность) — наименьший.</a:t>
            </a:r>
          </a:p>
          <a:p>
            <a:pPr marL="0" indent="0" algn="just">
              <a:buNone/>
            </a:pP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797B1A-71D6-DC19-0589-593E92056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43837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60F65-C32B-334E-4187-CA0AC205E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61A088-A7A2-6C80-5DBE-02D31307D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Сравнительный анализ методов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9B08D1A-8BB2-D024-6FF0-399AD7F00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984" y="2286000"/>
            <a:ext cx="4599432" cy="3400214"/>
          </a:xfrm>
        </p:spPr>
        <p:txBody>
          <a:bodyPr/>
          <a:lstStyle/>
          <a:p>
            <a:pPr algn="just"/>
            <a:r>
              <a:rPr lang="ru-RU" dirty="0"/>
              <a:t>Для оценки эффективности различных методов кодирования категориальных признаков было проведено тестирование на трех датасетах различной структуры и размерности. Сравнение выполнялось по следующим критериям: качество кодирования (в процентах), размерность выходного пространства, время выполнения и потеря информации.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1A71584-5C72-30EF-C3D8-60FCA5856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19</a:t>
            </a:fld>
            <a:endParaRPr lang="ru-RU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C5CBD727-94A1-BB86-34CE-405241EEB455}"/>
              </a:ext>
            </a:extLst>
          </p:cNvPr>
          <p:cNvSpPr txBox="1">
            <a:spLocks/>
          </p:cNvSpPr>
          <p:nvPr/>
        </p:nvSpPr>
        <p:spPr>
          <a:xfrm>
            <a:off x="6525768" y="2785450"/>
            <a:ext cx="4599432" cy="340021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dirty="0"/>
              <a:t>Датасеты: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CarPrice_Assignment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/>
              <a:t>Healthcare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Historical_Pandemic_Epidemic_Dataset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064200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8EB8F-A8D6-8ECE-4296-7766A1B08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9A630E-A8E9-6780-DE26-21D3461EC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Пример </a:t>
            </a:r>
            <a:r>
              <a:rPr lang="ru-RU" dirty="0" err="1"/>
              <a:t>датасета</a:t>
            </a:r>
            <a:endParaRPr lang="ru-RU" dirty="0"/>
          </a:p>
        </p:txBody>
      </p:sp>
      <p:sp>
        <p:nvSpPr>
          <p:cNvPr id="8" name="Объект 6">
            <a:extLst>
              <a:ext uri="{FF2B5EF4-FFF2-40B4-BE49-F238E27FC236}">
                <a16:creationId xmlns:a16="http://schemas.microsoft.com/office/drawing/2014/main" id="{9CE21E67-362F-4600-A84A-68D2C96C42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44B5FF5-C00C-336B-6C04-0685094DD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20</a:t>
            </a:fld>
            <a:endParaRPr lang="ru-RU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C968E1E-FB54-8D99-75C7-E438991E89BB}"/>
              </a:ext>
            </a:extLst>
          </p:cNvPr>
          <p:cNvSpPr txBox="1">
            <a:spLocks/>
          </p:cNvSpPr>
          <p:nvPr/>
        </p:nvSpPr>
        <p:spPr>
          <a:xfrm>
            <a:off x="6525768" y="2785450"/>
            <a:ext cx="4599432" cy="340021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dirty="0"/>
              <a:t>Датасеты: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CarPrice_Assignment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/>
              <a:t>Healthcare</a:t>
            </a:r>
            <a:endParaRPr lang="ru-RU" dirty="0"/>
          </a:p>
          <a:p>
            <a:pPr marL="457200" indent="-457200" algn="just">
              <a:buFont typeface="+mj-lt"/>
              <a:buAutoNum type="arabicPeriod"/>
            </a:pPr>
            <a:r>
              <a:rPr lang="en-US" dirty="0" err="1"/>
              <a:t>Historical_Pandemic_Epidemic_Dataset</a:t>
            </a:r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D4FC80D-AA1D-486E-BEF8-DE03C8098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1" y="1473869"/>
            <a:ext cx="11231189" cy="438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8991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F629F-0F1B-E101-B72A-E1756DD9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11B172-1566-64C1-8B32-37823D6E7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864323"/>
            <a:ext cx="10058400" cy="822960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4000" dirty="0" err="1">
                <a:solidFill>
                  <a:schemeClr val="tx1"/>
                </a:solidFill>
              </a:rPr>
              <a:t>Результат</a:t>
            </a:r>
            <a:r>
              <a:rPr lang="en-US" sz="4000" dirty="0">
                <a:solidFill>
                  <a:schemeClr val="tx1"/>
                </a:solidFill>
              </a:rPr>
              <a:t> </a:t>
            </a:r>
            <a:r>
              <a:rPr lang="en-US" sz="4000" dirty="0" err="1">
                <a:solidFill>
                  <a:schemeClr val="tx1"/>
                </a:solidFill>
              </a:rPr>
              <a:t>попарной</a:t>
            </a:r>
            <a:r>
              <a:rPr lang="en-US" sz="4000" dirty="0">
                <a:solidFill>
                  <a:schemeClr val="tx1"/>
                </a:solidFill>
              </a:rPr>
              <a:t> </a:t>
            </a:r>
            <a:r>
              <a:rPr lang="en-US" sz="4000" dirty="0" err="1">
                <a:solidFill>
                  <a:schemeClr val="tx1"/>
                </a:solidFill>
              </a:rPr>
              <a:t>корреляции</a:t>
            </a:r>
            <a:r>
              <a:rPr lang="en-US" sz="4000" dirty="0">
                <a:solidFill>
                  <a:schemeClr val="tx1"/>
                </a:solidFill>
              </a:rPr>
              <a:t> </a:t>
            </a:r>
            <a:r>
              <a:rPr lang="en-US" sz="4000" dirty="0" err="1">
                <a:solidFill>
                  <a:schemeClr val="tx1"/>
                </a:solidFill>
              </a:rPr>
              <a:t>признаков</a:t>
            </a:r>
            <a:r>
              <a:rPr lang="en-US" sz="4000" dirty="0">
                <a:solidFill>
                  <a:schemeClr val="tx1"/>
                </a:solidFill>
              </a:rPr>
              <a:t> с </a:t>
            </a:r>
            <a:r>
              <a:rPr lang="en-US" sz="4000" dirty="0" err="1">
                <a:solidFill>
                  <a:schemeClr val="tx1"/>
                </a:solidFill>
              </a:rPr>
              <a:t>целевой</a:t>
            </a:r>
            <a:r>
              <a:rPr lang="en-US" sz="4000" dirty="0">
                <a:solidFill>
                  <a:schemeClr val="tx1"/>
                </a:solidFill>
              </a:rPr>
              <a:t> </a:t>
            </a:r>
            <a:r>
              <a:rPr lang="en-US" sz="4000" dirty="0" err="1">
                <a:solidFill>
                  <a:schemeClr val="tx1"/>
                </a:solidFill>
              </a:rPr>
              <a:t>переменной</a:t>
            </a:r>
            <a:endParaRPr lang="en-US" sz="40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797B48-CA42-FB0A-AF42-EAACE695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25726283-AA38-4E85-AA5F-A5EF301525D1}" type="slidenum">
              <a:rPr lang="en-US" smtClean="0"/>
              <a:pPr defTabSz="914400">
                <a:spcAft>
                  <a:spcPts val="600"/>
                </a:spcAft>
              </a:pPr>
              <a:t>21</a:t>
            </a:fld>
            <a:endParaRPr lang="en-US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9ED9569-F9C9-41B6-F6FD-8025166D0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41" y="2059770"/>
            <a:ext cx="11593265" cy="3648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073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924BF2-0E12-93C0-0925-471BDB6A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5DE444-52BC-1F34-1CDC-9A2046E1E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9499" y="331497"/>
            <a:ext cx="10909073" cy="1057655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6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Результаты</a:t>
            </a:r>
            <a:r>
              <a:rPr lang="en-US" sz="6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ru-RU" sz="6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построения регрессии</a:t>
            </a:r>
            <a:endParaRPr lang="en-US" sz="6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D6AAF1D-6928-2C16-14DB-777C4270F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5726283-AA38-4E85-AA5F-A5EF301525D1}" type="slidenum">
              <a:rPr lang="en-US" smtClean="0"/>
              <a:pPr>
                <a:spcAft>
                  <a:spcPts val="600"/>
                </a:spcAft>
              </a:pPr>
              <a:t>22</a:t>
            </a:fld>
            <a:endParaRPr lang="en-US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969153C-D485-74DA-A7F7-774BBA63A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99" y="1505298"/>
            <a:ext cx="10282984" cy="495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931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FE5CE-2451-770B-3FA3-3BDBF9A80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4C099C-5659-7782-823F-54BC63865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7233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Тестирование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A3FD3D-A1FC-BCB5-E863-B37BF31A9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4984" y="2286000"/>
            <a:ext cx="4599432" cy="3400214"/>
          </a:xfrm>
        </p:spPr>
        <p:txBody>
          <a:bodyPr/>
          <a:lstStyle/>
          <a:p>
            <a:pPr algn="just"/>
            <a:r>
              <a:rPr lang="ru-RU" dirty="0"/>
              <a:t>В процессе разработки было проведено комплексное тестирование системы кодирования категориальных признаков. Всего разработано и выполнено 17 автоматизированных тестов с использованием фреймворка </a:t>
            </a:r>
            <a:r>
              <a:rPr lang="ru-RU" dirty="0" err="1"/>
              <a:t>xUnit</a:t>
            </a:r>
            <a:r>
              <a:rPr lang="ru-RU" dirty="0"/>
              <a:t>, охватывающих модульное и функциональное тестирование.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3FE2FB8-AAC1-4FAD-9DDE-DD4FC1C2A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23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66B9D33-365C-F549-7B4F-52E7B95BB5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9385" y="1935468"/>
            <a:ext cx="3815502" cy="410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8070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57AC-80A9-21BA-0109-36C93ED01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A2160B-2BD7-B72B-04EB-CF15F1B2D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083" y="567766"/>
            <a:ext cx="10058400" cy="801533"/>
          </a:xfrm>
        </p:spPr>
        <p:txBody>
          <a:bodyPr/>
          <a:lstStyle/>
          <a:p>
            <a:pPr algn="ctr"/>
            <a:r>
              <a:rPr lang="ru-RU" dirty="0"/>
              <a:t>Заключение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45AE6DD8-D3DE-8884-E79E-F5B54B79C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083" y="2002536"/>
            <a:ext cx="5877653" cy="3465576"/>
          </a:xfrm>
        </p:spPr>
        <p:txBody>
          <a:bodyPr>
            <a:normAutofit/>
          </a:bodyPr>
          <a:lstStyle/>
          <a:p>
            <a:pPr algn="just"/>
            <a:r>
              <a:rPr lang="ru-RU" dirty="0"/>
              <a:t>В ходе выполнения данной работы была достигнута поставленная цель — разработано программное средство для сравнительного анализа методов преобразования категориальных признаков с сохранением семантической информации, позволяющее оценить эффективность различных подходов кодирования при работе с </a:t>
            </a:r>
            <a:r>
              <a:rPr lang="ru-RU" dirty="0" err="1"/>
              <a:t>высокоразмерными</a:t>
            </a:r>
            <a:r>
              <a:rPr lang="ru-RU" dirty="0"/>
              <a:t> данными. Все поставленные задачи были успешно выполнены.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E08DAB1-324D-AB20-942C-09A6891E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24</a:t>
            </a:fld>
            <a:endParaRPr lang="ru-RU"/>
          </a:p>
        </p:txBody>
      </p:sp>
      <p:pic>
        <p:nvPicPr>
          <p:cNvPr id="6148" name="Picture 4" descr="Picture background">
            <a:extLst>
              <a:ext uri="{FF2B5EF4-FFF2-40B4-BE49-F238E27FC236}">
                <a16:creationId xmlns:a16="http://schemas.microsoft.com/office/drawing/2014/main" id="{37F39381-E02C-2598-EA89-418AD1ECB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1708" y="2002536"/>
            <a:ext cx="3190775" cy="31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14848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B18AB-9E86-0A96-5424-F03C4EFA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E2ECE20-E877-01EC-3A4B-8D5AD3BE2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726283-AA38-4E85-AA5F-A5EF301525D1}" type="slidenum">
              <a:rPr lang="ru-RU" smtClean="0"/>
              <a:t>25</a:t>
            </a:fld>
            <a:endParaRPr lang="ru-RU"/>
          </a:p>
        </p:txBody>
      </p:sp>
      <p:pic>
        <p:nvPicPr>
          <p:cNvPr id="7172" name="Picture 4" descr="Picture background">
            <a:extLst>
              <a:ext uri="{FF2B5EF4-FFF2-40B4-BE49-F238E27FC236}">
                <a16:creationId xmlns:a16="http://schemas.microsoft.com/office/drawing/2014/main" id="{4FA8DDDE-FE72-2665-F136-641B977FE8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9490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319</TotalTime>
  <Words>1097</Words>
  <Application>Microsoft Office PowerPoint</Application>
  <PresentationFormat>Широкоэкранный</PresentationFormat>
  <Paragraphs>125</Paragraphs>
  <Slides>25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0" baseType="lpstr">
      <vt:lpstr>Aptos</vt:lpstr>
      <vt:lpstr>Arial</vt:lpstr>
      <vt:lpstr>Calibri</vt:lpstr>
      <vt:lpstr>Calibri Light</vt:lpstr>
      <vt:lpstr>Ретро</vt:lpstr>
      <vt:lpstr>МИНОРБНАУКИ РОССИИ ФГБОУ ВО «ТвГТУ»  Факультет информационных технологий  Кафедра программного обеспечения  Направление подготовки бакалавров 09.03.04  Программная инженерия    Реферат на тему: Преобразование категориальных признаков с сохранением семантической информации  Выполнил студент 4 курса группы Б.ПИН.РИС.2206  Аванесян Григорий Ромаевич Проверил: Мальков А. А. </vt:lpstr>
      <vt:lpstr>Цель и задачи работы</vt:lpstr>
      <vt:lpstr> One-Hot Encoding</vt:lpstr>
      <vt:lpstr>Integer Encoding </vt:lpstr>
      <vt:lpstr>Entropy Encoding</vt:lpstr>
      <vt:lpstr>Target Encoding</vt:lpstr>
      <vt:lpstr>CatBoost Encoding</vt:lpstr>
      <vt:lpstr>Диаграмма последовательности</vt:lpstr>
      <vt:lpstr>Диаграмма классов</vt:lpstr>
      <vt:lpstr>Интерфейс приложения</vt:lpstr>
      <vt:lpstr>Сравнительный анализ методов</vt:lpstr>
      <vt:lpstr>Алгоритм выбора целевой переменной</vt:lpstr>
      <vt:lpstr>Метрики качества кодирования категориальных признаков</vt:lpstr>
      <vt:lpstr>Корреляция Пирсона </vt:lpstr>
      <vt:lpstr> Корреляция Спирмена</vt:lpstr>
      <vt:lpstr>Взаимная информация(MI)</vt:lpstr>
      <vt:lpstr>Коэффициент детерминации</vt:lpstr>
      <vt:lpstr>Качество кодирования</vt:lpstr>
      <vt:lpstr>Сравнительный анализ методов</vt:lpstr>
      <vt:lpstr>Пример датасета</vt:lpstr>
      <vt:lpstr>Результат попарной корреляции признаков с целевой переменной</vt:lpstr>
      <vt:lpstr>Результаты построения регрессии</vt:lpstr>
      <vt:lpstr>Тестирование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МИНОРБНАУКИ РОССИИ ФГБОУ ВО «ТвГТУ»  Факультет информационных технологий  Кафедра программного обеспечения  Направление подготовки бакалавров 09.03.04  Программная инженерия    Презентация на тему: Памятник Петру 1  Выполнил студент 4 курса группы Б.ПИН.РИС.2206  Аванесян Григорий Ромаевич </dc:title>
  <dc:creator>Григорий Аванесян</dc:creator>
  <cp:lastModifiedBy>Григорий Аванесян</cp:lastModifiedBy>
  <cp:revision>18</cp:revision>
  <dcterms:created xsi:type="dcterms:W3CDTF">2026-03-10T09:20:01Z</dcterms:created>
  <dcterms:modified xsi:type="dcterms:W3CDTF">2026-04-07T22:20:57Z</dcterms:modified>
</cp:coreProperties>
</file>